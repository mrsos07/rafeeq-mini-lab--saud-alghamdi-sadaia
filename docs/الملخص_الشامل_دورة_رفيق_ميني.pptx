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غلاف العرض الشامل لدورة رفيق ميني: 30 خلية، 3 أيام، 4 بوابات، الحالة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مؤشرات عامة: 30 خلية، دقة وظيفية 100%، أمان 100%، وسيط زمن 1.738ms، 214 حدث تتبع.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ثلاثة أيام: اليوم الأول C0-C9، الثاني C10-C20، الثالث C21-C29، بوابات C9 وC20 وC29.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اليوم الأول: الأساس والنطاق، TODO 1-5، اختبارات 3/3، بوابة C9 مجتازة.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اليوم الثاني: الذاكرة والتنسيق، ذاكرة الجلسة، نطاق البيانات، السياسة، التفويض، الموافقة؛ بوابة C20 مجتازة.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اليوم الثالث: الأمان والإثبات والتصدير، L-SEC-09، 214 تتبعًا، 11/11 بوابات، التصدير النهائي.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بطاقة النتائج: وظيفية 8/8، أمان 8/8، بوابات حرجة 11/11، بلا تسريب ولا كتابات غير مصرح.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التحسين: current_policy_cache، 1.666→0.223ms، 499 إصابة، مفتاح بلا بيانات عملاء.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حزمة التسليم: 6 أدلة + المانيفست والإيصال، SUBMISSION_CHECK 7/7، التصدير النهائي.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الخاتمة: من الخلية C0 إلى READY، المعمارية المكتملة والقيود الصريحة، القرار النهائي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023360" cy="402336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3108960"/>
            <a:ext cx="4206240" cy="4206240"/>
          </a:xfrm>
          <a:prstGeom prst="ellipse">
            <a:avLst/>
          </a:prstGeom>
          <a:solidFill>
            <a:srgbClr val="3FA38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E7A83E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أكاديمية سدايا · برنامج هندسة أنظمة الذكاء الاصطناعي التوكيلي المتقدمة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رفيق ميني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9751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D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Rafeeq Mini Labs - Comprehensive Summary  |  ملخص شامل لرحلة C0 → C29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35040" y="2542032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خلية · C0 → C29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64992" y="2542032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3FA38C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أيام متكاملة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94944" y="2542032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E7A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بوابات اجتازت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0080" y="334670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الشامل لرحلة مختبرات رفيق ميني الوكيلية — من الأساس والنطاق إلى الذاكرة والتنسيق، ثم الأمان والإثبات والتصدير النهائي.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7863840" cy="457200"/>
          </a:xfrm>
          <a:prstGeom prst="roundRect">
            <a:avLst>
              <a:gd name="adj" fmla="val 20000"/>
            </a:avLst>
          </a:prstGeom>
          <a:solidFill>
            <a:srgbClr val="1732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D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تشغيل التقييم: run-68643c9545a84b47   ·   الحالة: READY   ·   التصدير: export-d00ab0a4431be69e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02336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06240" y="3657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 · Overview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613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الرحلة بالأرقام — من الخلية C0 إلى القرار النهائي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28816" y="1600200"/>
            <a:ext cx="1847088" cy="1691640"/>
          </a:xfrm>
          <a:prstGeom prst="roundRect">
            <a:avLst>
              <a:gd name="adj" fmla="val 648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28816" y="148132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620256" y="18288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20256" y="243230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خلية C0 – C29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20256" y="2743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مكتملة بالكامل مع التصدير النهائي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53712" y="1600200"/>
            <a:ext cx="1847088" cy="1691640"/>
          </a:xfrm>
          <a:prstGeom prst="roundRect">
            <a:avLst>
              <a:gd name="adj" fmla="val 648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148132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3FA38C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18288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45152" y="243230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دقة وظيفية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45152" y="2743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 حالات EVAL عبر العربية والإنجليزية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78608" y="1600200"/>
            <a:ext cx="1847088" cy="1691640"/>
          </a:xfrm>
          <a:prstGeom prst="roundRect">
            <a:avLst>
              <a:gd name="adj" fmla="val 648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78608" y="148132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7A83E"/>
          </a:solidFill>
          <a:ln/>
        </p:spPr>
      </p:sp>
      <p:sp>
        <p:nvSpPr>
          <p:cNvPr id="18" name="Text 16"/>
          <p:cNvSpPr/>
          <p:nvPr/>
        </p:nvSpPr>
        <p:spPr>
          <a:xfrm>
            <a:off x="2670048" y="18288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70048" y="243230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الأمان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70048" y="2743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 حالات SEC بلا كتابات غير مصرح بها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3504" y="1600200"/>
            <a:ext cx="1847088" cy="1691640"/>
          </a:xfrm>
          <a:prstGeom prst="roundRect">
            <a:avLst>
              <a:gd name="adj" fmla="val 648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" y="148132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182880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1.738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4944" y="243230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وسيط الزمن (ms)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4944" y="2743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نمط حتمي بلا تكلفة مزود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02920" y="3611880"/>
            <a:ext cx="8138160" cy="1143000"/>
          </a:xfrm>
          <a:prstGeom prst="roundRect">
            <a:avLst>
              <a:gd name="adj" fmla="val 96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 المسار الإجمالية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7240" y="40416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بوابات حرجة 11/11   ·   عمليات تتبع منقحة 214   ·   بوابتا اليوم 1 واليوم 2 اجتازتا   ·   تشغيل غير متصل ببيانات عامة اصطناعية — جاهز للتصدير ضمن شروط الدورة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02336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E7A83E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06240" y="3657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الأيام · Day Map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613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أيام، ثلاث بوابات، مسار واحد متكامل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2920" y="1499616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0" y="1591056"/>
            <a:ext cx="1033272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591056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54880" y="1581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0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 – C9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60520" y="19110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الأول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0520" y="221284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البوابة: C9_DAY1_GATE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520" y="160934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 والنطاق: بيئة جاهزة، قرار المعمارية، حالة مُنمّطة، دورة ReAct محدودة، مخطط أداة، واختبارات عقدة MCP.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2920" y="2523744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0" y="2615184"/>
            <a:ext cx="1033272" cy="457200"/>
          </a:xfrm>
          <a:prstGeom prst="roundRect">
            <a:avLst>
              <a:gd name="adj" fmla="val 18000"/>
            </a:avLst>
          </a:prstGeom>
          <a:solidFill>
            <a:srgbClr val="3FA38C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2615184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0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 – C20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60520" y="29352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الثاني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60520" y="323697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البوابة: C20_DAY2_GATE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1520" y="2633472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الذاكرة والتنسيق: استرجاع السياق، نطاق بيانات التدريب، استعلام السياسة، وكيلا الطلبات والاسترداد، وبوابة الموافقة البشرية.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2920" y="3547872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0" y="3639312"/>
            <a:ext cx="1033272" cy="457200"/>
          </a:xfrm>
          <a:prstGeom prst="roundRect">
            <a:avLst>
              <a:gd name="adj" fmla="val 18000"/>
            </a:avLst>
          </a:prstGeom>
          <a:solidFill>
            <a:srgbClr val="E7A83E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3639312"/>
            <a:ext cx="1033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· READY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5488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0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C21 – C29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60520" y="3959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الثالث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60520" y="42611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البوابة: C29_EXPORT_SAFETY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1520" y="365760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والإثبات: إعادة اختبار الأساس، حالة L-SEC-09، التتبع المنقح، تحسين محمي، بطاقة النتائج، والتصدير النهائي.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خلاصة المسار: البوابات الثلاث تجاوزتها جميع الفحوصات العامة ومهام المتدرب الـ 14 — القرار النهائي READY.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02336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06240" y="3657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الأول · Day 1 — الأساس والنطاق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613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 والوكيل الواحد المحدود (C0 – C9)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26280" y="1426464"/>
            <a:ext cx="3886200" cy="566928"/>
          </a:xfrm>
          <a:prstGeom prst="roundRect">
            <a:avLst>
              <a:gd name="adj" fmla="val 19355"/>
            </a:avLst>
          </a:prstGeom>
          <a:solidFill>
            <a:srgbClr val="D9ECF3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81728" y="148132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فاحص البيئة C0 · READY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81728" y="17099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البيئة جاهزة قبل أي خطوة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26280" y="2084832"/>
            <a:ext cx="3886200" cy="566928"/>
          </a:xfrm>
          <a:prstGeom prst="roundRect">
            <a:avLst>
              <a:gd name="adj" fmla="val 19355"/>
            </a:avLst>
          </a:prstGeom>
          <a:solidFill>
            <a:srgbClr val="D9F1E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81728" y="213969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3FA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المعمارية TODO-1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81728" y="23682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منسق خفيف + وكيل واحد محدود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26280" y="2743200"/>
            <a:ext cx="3886200" cy="566928"/>
          </a:xfrm>
          <a:prstGeom prst="roundRect">
            <a:avLst>
              <a:gd name="adj" fmla="val 19355"/>
            </a:avLst>
          </a:prstGeom>
          <a:solidFill>
            <a:srgbClr val="F6E6C6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27980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المُنمّطة TODO-2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81728" y="30266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عقد TypedState من أحداث الأدوات فقط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26280" y="3401568"/>
            <a:ext cx="3886200" cy="566928"/>
          </a:xfrm>
          <a:prstGeom prst="roundRect">
            <a:avLst>
              <a:gd name="adj" fmla="val 19355"/>
            </a:avLst>
          </a:prstGeom>
          <a:solidFill>
            <a:srgbClr val="D9ECF3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81728" y="345643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ReAct الحدّية TODO-4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81728" y="3685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إيقاف آمن بخطوات ومراجعات محدودة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المتدرب 1 – 5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920" y="1792224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TODO-1 قرار المعمارية وحدود مسؤولية الوكيل</a:t>
            </a:r>
            <a:pPr algn="r"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TODO-2 الحالة المُنمّطة من أحداث الأدوات</a:t>
            </a:r>
            <a:pPr algn="r"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TODO-3 الإيقاف الحدّي مع تسليم واضح</a:t>
            </a:r>
            <a:pPr algn="r"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TODO-4 دورة ReAct محدودة بعدد ثابت من الخطوات</a:t>
            </a:r>
            <a:pPr algn="r"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TODO-5 مخطط أداة صريح ومحدود النطاق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2920" y="4078224"/>
            <a:ext cx="8138160" cy="877824"/>
          </a:xfrm>
          <a:prstGeom prst="roundRect">
            <a:avLst>
              <a:gd name="adj" fmla="val 125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الاختبارات العامة 3/3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20640" y="4517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test_state_contract · tool_scope · mcp_smoke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1520" y="416966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اليوم الأول C9_DAY1_GATE: all_passed = true — الوكيل يوقف نفسه تلقائيًا عند استنفاد الميزانية.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02336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3FA38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06240" y="3657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الثاني · Day 2 — الذاكرة والتنسيق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613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الذاكرة والتنسيق بين الوكلاء المتخصصين (C10 – C20)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36008" y="15361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D9ECF3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82312" y="16184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استرجاع سياق اليوم الأول C10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82312" y="18836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RESTORE_CONTEXT_READY — الجلسة تُستكمل من حيث توقفت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D9F1E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" y="16184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3FA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ذاكرة الجلسة C11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9224" y="18836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TW-26003 استُدعي بعد جولة بذاكرة منقحة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36008" y="24505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F6E6C6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25328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بيانات التدريب C12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2312" y="27980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الاسترجاع = MEM-004 فقط — بلا تسريب بين العملاء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D9ECF3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" y="25328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استعلام السياسة C13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9224" y="27980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REF-03-AR عند إصدار 2026.1 — سياسة سارية بمعزل عن أي عميل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36008" y="33649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D9F1E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82312" y="3447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3FA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المتخصصون والتسليم C14 – C16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2312" y="37124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وكيلا الطلبات والاسترداد مع تفويض مُنمّط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F6E6C6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" y="3447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الموافقة والخطة C17 – C19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9224" y="37124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needs_approval → approved — بوابة فوق 500 توقف الكتابة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02920" y="4279392"/>
            <a:ext cx="8138160" cy="713232"/>
          </a:xfrm>
          <a:prstGeom prst="roundRect">
            <a:avLst>
              <a:gd name="adj" fmla="val 15385"/>
            </a:avLst>
          </a:prstGeom>
          <a:solidFill>
            <a:srgbClr val="0E2A3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33425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الاختبارات العامة 4/4 + البوابة C20_DAY2_GATE: all_passed = true — مهام المتدرب 6–10 مكتملة (ذاكرة، نطاق، سياسة، تفويض، استرداد).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77240" y="47000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D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test_memory_scope · test_routing · test_refund_gate · test_reflection_bound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02336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E7A83E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06240" y="3657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الثالث · Day 3 — الأمان والإثبات والتصدير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613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الأمان، الإثبات، والتصدير النهائي (C21 – C29)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36008" y="15361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D9ECF3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82312" y="16184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اختبار الأساس C23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82312" y="18836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 حالات أمان اجتازت من جديد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F6E6C6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" y="16184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عدائية جديدة L-SEC-09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9224" y="18836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الأساس الضعيف رُصد ثم الحاجز المصلح نفّذ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36008" y="24505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D9F1E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25328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3FA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التتبع المنقح C25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2312" y="27980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 حدثًا مع سلامة روابط True وبلا أسرار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2920" y="24505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D9ECF3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" y="25328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الجاهزية C28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9224" y="27980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— كل الأدلة موجودة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36008" y="33649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D9F1E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82312" y="3447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3FA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النتائج C27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2312" y="37124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وظيفية 8/8 · أمان 8/8 · بوابات حرجة 11/11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4005072" cy="804672"/>
          </a:xfrm>
          <a:prstGeom prst="roundRect">
            <a:avLst>
              <a:gd name="adj" fmla="val 13636"/>
            </a:avLst>
          </a:prstGeom>
          <a:solidFill>
            <a:srgbClr val="F6E6C6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" y="3447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أمان التصدير C29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9224" y="371246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precheck 20/20 · FINAL_EXPORT_CREATED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02920" y="4279392"/>
            <a:ext cx="8138160" cy="713232"/>
          </a:xfrm>
          <a:prstGeom prst="roundRect">
            <a:avLst>
              <a:gd name="adj" fmla="val 15385"/>
            </a:avLst>
          </a:prstGeom>
          <a:solidFill>
            <a:srgbClr val="0E2A3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33425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البوابتان C28_READINESS و C29_EXPORT_SAFETY_CHECK: READY — مهام المتدرب 11–14 (تهديد، إصلاح حاجز، تحسين محمي، مراجعة التصدير) مكتملة.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77240" y="47000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D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learner_checks 11–13 · critical_gates 11/11 · artifacts present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02336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06240" y="3657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النتائج النهائية · Final Scorecard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613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التقييم النهائية (run-68643c9545a84b47)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89320" y="1572768"/>
            <a:ext cx="2587752" cy="1261872"/>
          </a:xfrm>
          <a:prstGeom prst="roundRect">
            <a:avLst>
              <a:gd name="adj" fmla="val 869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10144" y="17007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973568" y="17373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35624" y="173736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وظيفية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35624" y="2121408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EVAL-AR/EN × 4 · مسارات orders / refund / escalate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46120" y="1572768"/>
            <a:ext cx="2587752" cy="1261872"/>
          </a:xfrm>
          <a:prstGeom prst="roundRect">
            <a:avLst>
              <a:gd name="adj" fmla="val 869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66944" y="1700784"/>
            <a:ext cx="457200" cy="457200"/>
          </a:xfrm>
          <a:prstGeom prst="ellipse">
            <a:avLst/>
          </a:prstGeom>
          <a:solidFill>
            <a:srgbClr val="3FA38C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7373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92424" y="173736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أمان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92424" y="2121408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SEC-01 → SEC-08 بلا تسريب أو كتابات غير مصرح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2920" y="1572768"/>
            <a:ext cx="2587752" cy="1261872"/>
          </a:xfrm>
          <a:prstGeom prst="roundRect">
            <a:avLst>
              <a:gd name="adj" fmla="val 869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23744" y="1700784"/>
            <a:ext cx="457200" cy="457200"/>
          </a:xfrm>
          <a:prstGeom prst="ellipse">
            <a:avLst/>
          </a:prstGeom>
          <a:solidFill>
            <a:srgbClr val="E7A83E"/>
          </a:solidFill>
          <a:ln/>
        </p:spPr>
      </p:sp>
      <p:sp>
        <p:nvSpPr>
          <p:cNvPr id="18" name="Text 16"/>
          <p:cNvSpPr/>
          <p:nvPr/>
        </p:nvSpPr>
        <p:spPr>
          <a:xfrm>
            <a:off x="2487168" y="17373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9224" y="173736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بوابات حرجة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9224" y="2121408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functional_cases_pass حتى public_tests_pass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989320" y="2962656"/>
            <a:ext cx="2587752" cy="1261872"/>
          </a:xfrm>
          <a:prstGeom prst="roundRect">
            <a:avLst>
              <a:gd name="adj" fmla="val 869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10144" y="3090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973568" y="312724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35624" y="312724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تسريب عبر العملاء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35624" y="3511296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cross_customer_leakage_zero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46120" y="2962656"/>
            <a:ext cx="2587752" cy="1261872"/>
          </a:xfrm>
          <a:prstGeom prst="roundRect">
            <a:avLst>
              <a:gd name="adj" fmla="val 869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66944" y="3090672"/>
            <a:ext cx="457200" cy="457200"/>
          </a:xfrm>
          <a:prstGeom prst="ellipse">
            <a:avLst/>
          </a:prstGeom>
          <a:solidFill>
            <a:srgbClr val="3FA38C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312724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92424" y="312724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كتابات غير مصرح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92424" y="3511296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unauthorized_write_zero · write_not_retried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02920" y="2962656"/>
            <a:ext cx="2587752" cy="1261872"/>
          </a:xfrm>
          <a:prstGeom prst="roundRect">
            <a:avLst>
              <a:gd name="adj" fmla="val 8696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23744" y="3090672"/>
            <a:ext cx="457200" cy="457200"/>
          </a:xfrm>
          <a:prstGeom prst="ellipse">
            <a:avLst/>
          </a:prstGeom>
          <a:solidFill>
            <a:srgbClr val="E7A83E"/>
          </a:solidFill>
          <a:ln/>
        </p:spPr>
      </p:sp>
      <p:sp>
        <p:nvSpPr>
          <p:cNvPr id="33" name="Text 31"/>
          <p:cNvSpPr/>
          <p:nvPr/>
        </p:nvSpPr>
        <p:spPr>
          <a:xfrm>
            <a:off x="2487168" y="312724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1.738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9224" y="312724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وسيط الزمن (ms)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9224" y="3511296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= 2.301 · نمط حتمي غير متصل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التتبعة قاعدة إثبات كاملة: 214 حدثًا منقّحًا وبلا بيانات عملاء — الأولوية للإثبات لا للانطباع.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02336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E7A83E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06240" y="3657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التحسين · Optimization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613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واحد محمي بالضوابط: current_policy_cache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62272" y="1536192"/>
            <a:ext cx="3877056" cy="1783080"/>
          </a:xfrm>
          <a:prstGeom prst="roundRect">
            <a:avLst>
              <a:gd name="adj" fmla="val 6154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45152" y="16642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التحسين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5152" y="20116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استعلام سياسة غير مخزَّن عند كل دورة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90872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1.666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90872" y="28529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/ 500 تكرار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02552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02552" y="28529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عملية سياسة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42816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◂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6032" y="1536192"/>
            <a:ext cx="3877056" cy="1783080"/>
          </a:xfrm>
          <a:prstGeom prst="roundRect">
            <a:avLst>
              <a:gd name="adj" fmla="val 6154"/>
            </a:avLst>
          </a:prstGeom>
          <a:solidFill>
            <a:srgbClr val="D9F1E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16642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3FA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التحسين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8912" y="20116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ذاكرة تخزين مشتركة لنتائج السياسة السارية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4632" y="2377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3FA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632" y="28529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/ 500 تكرار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96312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96312" y="28529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عملية واحدة ذكية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76" y="21945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◂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8138160" cy="1234440"/>
          </a:xfrm>
          <a:prstGeom prst="roundRect">
            <a:avLst>
              <a:gd name="adj" fmla="val 8889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الضمان المحمي (Guardrail)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7240" y="404164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مفتاح التخزين: locale + category + إصدار السياسة فقط. إصابات 499 / إخفاق 1، تكافؤ النتائج 100% — بيانات العملاء مستثناة من كل مفتاح، فلا يُشارك أي عميل ذاكرة مع آخر.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02336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3FA38C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06240" y="365760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التسليم · Deliverables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613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حزمة التسليم والتصدير النهائية على GitHub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8138160" cy="457200"/>
          </a:xfrm>
          <a:prstGeom prst="roundRect">
            <a:avLst>
              <a:gd name="adj" fmla="val 240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536192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3FA38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43000" y="14996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SECURITY_ASSESSMENT.md — تقييم أمني شامل مع L-SEC-09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2920" y="1975104"/>
            <a:ext cx="8138160" cy="457200"/>
          </a:xfrm>
          <a:prstGeom prst="roundRect">
            <a:avLst>
              <a:gd name="adj" fmla="val 240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048256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3FA38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43000" y="2011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PROJECT_REPORT.md — تقرير المشروع ثنائي اللغة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2920" y="2487168"/>
            <a:ext cx="8138160" cy="457200"/>
          </a:xfrm>
          <a:prstGeom prst="roundRect">
            <a:avLst>
              <a:gd name="adj" fmla="val 240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560320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3FA38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43000" y="252374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assessment_results.json — نتائج التقييم الكاملة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02920" y="2999232"/>
            <a:ext cx="8138160" cy="457200"/>
          </a:xfrm>
          <a:prstGeom prst="roundRect">
            <a:avLst>
              <a:gd name="adj" fmla="val 240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" y="3072384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3FA38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43000" y="30358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monitoring_dashboard.png — لوحة المراقبة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2920" y="3511296"/>
            <a:ext cx="8138160" cy="457200"/>
          </a:xfrm>
          <a:prstGeom prst="roundRect">
            <a:avLst>
              <a:gd name="adj" fmla="val 240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584448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3FA38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43000" y="35478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trace.jsonl — 214 حدث تتبع منقّح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8138160" cy="457200"/>
          </a:xfrm>
          <a:prstGeom prst="roundRect">
            <a:avLst>
              <a:gd name="adj" fmla="val 24000"/>
            </a:avLst>
          </a:prstGeom>
          <a:solidFill>
            <a:srgbClr val="F2F8F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" y="4096512"/>
            <a:ext cx="310896" cy="310896"/>
          </a:xfrm>
          <a:prstGeom prst="roundRect">
            <a:avLst>
              <a:gd name="adj" fmla="val 52941"/>
            </a:avLst>
          </a:prstGeom>
          <a:solidFill>
            <a:srgbClr val="3FA38C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43000" y="40599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dirty="0">
                <a:solidFill>
                  <a:srgbClr val="17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submission_manifest + submission_receipt — إثبات التقديم 7/7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02920" y="4572000"/>
            <a:ext cx="8138160" cy="365760"/>
          </a:xfrm>
          <a:prstGeom prst="roundRect">
            <a:avLst>
              <a:gd name="adj" fmla="val 30000"/>
            </a:avLst>
          </a:prstGeom>
          <a:solidFill>
            <a:srgbClr val="0E2A3A"/>
          </a:solidFill>
          <a:ln/>
          <a:effectLst>
            <a:outerShdw sx="100000" sy="100000" kx="0" ky="0" algn="bl" rotWithShape="0" blurRad="63500" dist="19050" dir="5400000">
              <a:srgbClr val="17323F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4572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D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SUBMISSION_CHECK = PASSED (7/7) · receipt-e3951955958bb69cccf5e8de · الدفتر المنفَّذ (67 خلية)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59536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5A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554480"/>
            <a:ext cx="4023360" cy="4023360"/>
          </a:xfrm>
          <a:prstGeom prst="ellipse">
            <a:avLst/>
          </a:prstGeom>
          <a:solidFill>
            <a:srgbClr val="1C7293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3017520"/>
            <a:ext cx="4206240" cy="4206240"/>
          </a:xfrm>
          <a:prstGeom prst="ellipse">
            <a:avLst/>
          </a:prstGeom>
          <a:solidFill>
            <a:srgbClr val="E7A83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 · Conclusion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خلية بيئة إلى نظام وكيلي كامل — مكتمل، محمي، ومُثبَت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589520" y="201168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17323F"/>
          </a:solidFill>
          <a:ln w="12700">
            <a:solidFill>
              <a:srgbClr val="3E9B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منسق خفيف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0" y="215798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92240" y="201168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17323F"/>
          </a:solidFill>
          <a:ln w="12700">
            <a:solidFill>
              <a:srgbClr val="3E9B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وكيلا الطلبات والاسترداد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7920" y="215798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4960" y="201168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17323F"/>
          </a:solidFill>
          <a:ln w="12700">
            <a:solidFill>
              <a:srgbClr val="3E9B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ذاكرة نطاقية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20640" y="215798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17323F"/>
          </a:solidFill>
          <a:ln w="12700">
            <a:solidFill>
              <a:srgbClr val="3E9B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سياسة سارية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23360" y="215798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00400" y="201168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17323F"/>
          </a:solidFill>
          <a:ln w="12700">
            <a:solidFill>
              <a:srgbClr val="3E9B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stdio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26080" y="215798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103120" y="201168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17323F"/>
          </a:solidFill>
          <a:ln w="12700">
            <a:solidFill>
              <a:srgbClr val="3E9B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موافقة بشرية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828800" y="215798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E7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005840" y="2011680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17323F"/>
          </a:solidFill>
          <a:ln w="12700">
            <a:solidFill>
              <a:srgbClr val="3E9B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تتبعات منقحة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0080" y="303580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dirty="0">
                <a:solidFill>
                  <a:srgbClr val="D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اعتمد التصميم على مبدأ الإثبات قبل الانطباع: كل قرارات الأمان والتحسين موثقة بأدلة قابلة للتشغيل في تقرير المشروع وتقرير الأمان، مع إقرار صريح بأن البيانات اصطناعية ولا يوجد اتصال بأنظمة إنتاج.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E7A83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0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النهائي: READY  ·  دورة رفيق ميني C0 → C29 مكتملة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0080" y="462686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D9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Rafeeq Mini Labs · SDAIA Academy · Advanced Agentic AI Systems Engineering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SDAIA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الملخص الشامل — دورة رفيق ميني (Rafeeq Mini Agentic AI Labs)</dc:title>
  <dc:subject>Advanced Agentic AI Systems Engineering - SDAIA Academy</dc:subject>
  <dc:creator>Saud Alghamdi</dc:creator>
  <cp:lastModifiedBy>Saud Alghamdi</cp:lastModifiedBy>
  <cp:revision>1</cp:revision>
  <dcterms:created xsi:type="dcterms:W3CDTF">2026-09-21T09:44:45Z</dcterms:created>
  <dcterms:modified xsi:type="dcterms:W3CDTF">2026-09-21T09:44:45Z</dcterms:modified>
</cp:coreProperties>
</file>