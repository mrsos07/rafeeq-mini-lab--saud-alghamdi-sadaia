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4344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غلاف: الملخص الشامل لدورة رفيق ميني — يغطي اليومين الأول والثاني والمبادئ التوجيهية.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نظرة بالأرقام: يومان، 13 محورًا، 7 مبادئ، 30 قسمًا حتى بوابة التخرج.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المحاور 1-3 من اليوم الأول: المنهجية، البيئة، والوكيل المنسّق للأدوات.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المحاور 4-6: بوابة القرار، التنسيق متعدد الأدوات، والاختبار المستمر.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المحاور 7-10 من اليوم الثاني: سياق المتعلم، الذاكرة، التخطيط، واسترجاع السياسات.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المحاور 11-13: التفويض، إعادة التخطيط مع الموافقة البشرية، والحدود الفكرية.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المبادئ السبعة التوجيهية + شعار الدورة.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حصيلة اليومين في ثلاثة أعمدة: فهم معماري، مهارات تقنية، ممارسات مهنية.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الخلاصة: تحوّل المتدرب خلال يومين، مع اجتياز بوابتي اليومين وحفظ الأدلة.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إغلاق: الخطوة التالية نحو بوابة التخرج C29 وحزمة التسليم والأدلة.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023360"/>
            <a:ext cx="3291840" cy="329184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-1371600"/>
            <a:ext cx="2926080" cy="2926080"/>
          </a:xfrm>
          <a:prstGeom prst="ellipse">
            <a:avLst/>
          </a:prstGeom>
          <a:solidFill>
            <a:srgbClr val="C9A22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5349240"/>
            <a:ext cx="457200" cy="45720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572768" y="5779008"/>
            <a:ext cx="274320" cy="274320"/>
          </a:xfrm>
          <a:prstGeom prst="diamond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658368"/>
            <a:ext cx="3776472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658368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ملخص المتدرب • دورة رفيق ميني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الملخص الشامل لدورة «رفيق ميني»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محاور الدورة الرئيسية، وما استفاد المتدرب في يومين من البناء الواعي للوكلاء الحكيمة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144000" y="457200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4572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الأول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457200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4572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الثاني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66160" y="457200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4572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متدرّجة C0→C29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أُعدّ هذا الملخص لتوثيق رحلة التعلم: المحاور والمبادئ، لا خطوات المعمل التفصيلية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على الجولة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العناوين الكبرى للدورة في أرقام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061704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226296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244584" y="315468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يومان مكثّفان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244584" y="3703320"/>
            <a:ext cx="21579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العدّاد إلى الوكيل الواثق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27064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91656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409944" y="315468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محورًا متدرّجًا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9944" y="3703320"/>
            <a:ext cx="21579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محور يبني على سابقه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92424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557016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3575304" y="315468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مبادئ توجيهية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75304" y="3703320"/>
            <a:ext cx="21579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تسري على حلولك الخاصّة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7784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740664" y="3154680"/>
            <a:ext cx="21579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قسمًا حتى التخرج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0664" y="3703320"/>
            <a:ext cx="21579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C0 → C29 عند كل محطة بوابة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57784" y="507492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EF3FB"/>
          </a:solidFill>
          <a:ln/>
        </p:spPr>
      </p:sp>
      <p:sp>
        <p:nvSpPr>
          <p:cNvPr id="22" name="Shape 20"/>
          <p:cNvSpPr/>
          <p:nvPr/>
        </p:nvSpPr>
        <p:spPr>
          <a:xfrm>
            <a:off x="11292840" y="539496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230368"/>
            <a:ext cx="10058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الفكرة المركزية: الوكيل ينسّق الأدوات، والبوابة تحرس الجودة، والإنسان يملك القرار النهائي.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الأول — القسم الأول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فكرة العميل إلى بوابات القرار الحكيمة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835640" y="218998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35640" y="21899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47672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المقدّمة والمنهجية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2423160"/>
            <a:ext cx="93543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الدورة من C0 إلى C29، وبوابة التخرج الكبرى التي تقيس الجاهزية لا الحفظ — فالنجاح الحقيقي أن تُثبت فهمك بالأدلة.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835640" y="379018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35640" y="37901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3547872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بيئة العمل والأدوات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80160" y="4023360"/>
            <a:ext cx="93543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إعداد البيئة والاعتماد على أدوات Colab بأسماءٍ صريحة، مع قواعد Gateway صارمة تمنع أي تجاوز صامت.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835640" y="539038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35640" y="53903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5148072"/>
            <a:ext cx="9354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الوكيل المنسّق للأدوات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93543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يوجّه ويصحّح ويقرّر بين الأدوات: يختار المناسب، ويطرح الخيارات، ولا يحفظ المعرفة مكان الأدوات.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الأول — القسم الثاني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البوابة، التنسيق، والجودة المستمرة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874520"/>
          </a:xfrm>
          <a:prstGeom prst="roundRect">
            <a:avLst>
              <a:gd name="adj" fmla="val 5854"/>
            </a:avLst>
          </a:prstGeom>
          <a:solidFill>
            <a:srgbClr val="C9A227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0" y="1463040"/>
            <a:ext cx="2560320" cy="25603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2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3200400" y="201168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القرار (Gate): الحارس الأمين للجودة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200400" y="2542032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يمرّ الشرط الفاشل؛ تتوقف العملية وتُوضَّح السبب ثم تعاد التوجيه — هكذا تبقى الأخطاء الصغيرة صغيرةً قبل أن تتحول إلى كوارث.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3977640"/>
            <a:ext cx="5413248" cy="205740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844784" y="470458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44784" y="47045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67728" y="4142232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التنسيق متعدد الأدوات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967728" y="4617720"/>
            <a:ext cx="367588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سلاسل قرارات مركّبة، حدود زمنية، وتدفق إرجاع منطقي عند أي فشل — العميل يختار الأداة المناسبة في اللحظة المناسبة.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413248" cy="205740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57216" y="470458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57216" y="47045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142232"/>
            <a:ext cx="3675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الاختبار والمراقبة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4617720"/>
            <a:ext cx="367588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اختبارات آلية تُدار عند كل محطة، ووثيقة حية تكبر مع الكود — الجودة مبنية في النسيج لا إضافة في النهاية.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الثاني — القسم الأول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سياق، ذاكرة، تخطيط، وسياسات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65760" y="1975104"/>
            <a:ext cx="11457432" cy="41148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6" name="Shape 4"/>
          <p:cNvSpPr/>
          <p:nvPr/>
        </p:nvSpPr>
        <p:spPr>
          <a:xfrm>
            <a:off x="10195560" y="1691640"/>
            <a:ext cx="603504" cy="603504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5560" y="169164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71432" y="2514600"/>
            <a:ext cx="2651760" cy="3063240"/>
          </a:xfrm>
          <a:prstGeom prst="roundRect">
            <a:avLst>
              <a:gd name="adj" fmla="val 3448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475720" y="2697480"/>
            <a:ext cx="237744" cy="237744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9354312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سياق المتعلم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54312" y="3291840"/>
            <a:ext cx="22860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حالة المتعلم تُعدّ في كل خلية: متغيرات صريحة، وخصائص معلنة، ودورة تدريجية هادفة.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60336" y="1691640"/>
            <a:ext cx="603504" cy="603504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0336" y="169164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6208" y="2514600"/>
            <a:ext cx="2651760" cy="3063240"/>
          </a:xfrm>
          <a:prstGeom prst="roundRect">
            <a:avLst>
              <a:gd name="adj" fmla="val 3448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40496" y="2697480"/>
            <a:ext cx="237744" cy="237744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الذاكرة السياقية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3291840"/>
            <a:ext cx="22860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استدعاء سياق الجلسة بين الأدوار مع حدود نطاق (Cross-Customer) تمنع تسرّب المعلومات.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25112" y="1691640"/>
            <a:ext cx="603504" cy="603504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25112" y="169164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00984" y="2514600"/>
            <a:ext cx="2651760" cy="3063240"/>
          </a:xfrm>
          <a:prstGeom prst="roundRect">
            <a:avLst>
              <a:gd name="adj" fmla="val 3448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05272" y="2697480"/>
            <a:ext cx="237744" cy="237744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3483864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التخطيط الإجرائي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83864" y="3291840"/>
            <a:ext cx="22860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مهام وأدوار وخطوات تفكير مكتوبة: خطّط ثم نفّذ، ولا تخلط التخطيط بالتنفيذ.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89888" y="1691640"/>
            <a:ext cx="603504" cy="603504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89888" y="169164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65760" y="2514600"/>
            <a:ext cx="2651760" cy="3063240"/>
          </a:xfrm>
          <a:prstGeom prst="roundRect">
            <a:avLst>
              <a:gd name="adj" fmla="val 3448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670048" y="2697480"/>
            <a:ext cx="237744" cy="237744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استرجاع السياسات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291840"/>
            <a:ext cx="228600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قرارات مبنية على سياسة معلنة تُسترجَع بالاستعلام (Policy Query) لا على التخمين.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 الثاني — القسم الثاني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تفويض، انحراف، وحدود فكرية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126480" y="1783080"/>
            <a:ext cx="5513832" cy="4434840"/>
          </a:xfrm>
          <a:prstGeom prst="roundRect">
            <a:avLst>
              <a:gd name="adj" fmla="val 2474"/>
            </a:avLst>
          </a:prstGeom>
          <a:solidFill>
            <a:srgbClr val="16213E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0" y="1554480"/>
            <a:ext cx="2743200" cy="274320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0" y="2057400"/>
            <a:ext cx="292608" cy="292608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0" y="196596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96596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1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اليوم الثاني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537960" y="2743200"/>
            <a:ext cx="4800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"الانحراف يُوقِف التنفيذ، والموافقة البشرية تُكمِله — الوكلاء يُجهّزون القرار ولا يملكونه."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537960" y="4297680"/>
            <a:ext cx="4800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التخطيط تبدأ بسؤال واضح: هل نوقف العملية، أم نستأنف بنفس الإجراء المحدّد وبعد موافقة صريحة؟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78308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47488" y="2167128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216712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194767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التفويض والوكالة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242316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توزيع المهمة بين وكلاء متخصصين بعقود صريحة — الجميع يعرف مَن يفعل ماذا وبأي صلاحية.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19272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47488" y="3703320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47488" y="370332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160" y="348386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التخطيط والحوكمة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80160" y="395935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الانحراف يتطلّب إيقافًا (Pause) وطلب موافقة بشرية، ثم استئنافًا (Resume) بنفس الإجراء.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55464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47488" y="5239512"/>
            <a:ext cx="603504" cy="60350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523951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502005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 الفكرية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280160" y="5495544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05000"/>
              </a:lnSpc>
              <a:buNone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الالتزام بصلاحية القرار وعدم الخروج عن نطاق المسؤولية المفوضة — وضوحٌ يحمي الجميع.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المبادئ السبعة التوجيهية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صغيرة... أثر كبير على كل حلٍّ تكتبه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16568" y="178308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338560" y="192938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1929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336024" y="235000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المعرفة خارجية: العميل ينسّق الأدوات ولا يحفظ بدلًا منها.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9632" y="178308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421624" y="192938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929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19088" y="235000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البوابة تصطاد الخطأ الصغير قبل أن يتحوّل إلى كبير.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82696" y="178308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504688" y="192938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04688" y="1929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02152" y="235000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الذاكرة السياقية تمنح العميل استمرارية بين الجلسات.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178308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87752" y="192938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87752" y="19293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" y="235000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النهائي للإنسان؛ العميل يقدّم الأدلة والبديل.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116568" y="397764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338560" y="412394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8560" y="4123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336024" y="454456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خطّط ثم نفّذ ثم أعد التخطيط عند كل انحراف.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99632" y="397764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21624" y="412394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4123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19088" y="454456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العقود الصريحة بين الوكلاء تمنع الفوضى والاجتهاد المتضارب.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82696" y="397764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04688" y="4123944"/>
            <a:ext cx="475488" cy="47548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04688" y="4123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02152" y="4544568"/>
            <a:ext cx="2258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8000"/>
              </a:lnSpc>
              <a:buNone/>
            </a:pPr>
            <a:r>
              <a:rPr lang="en-US" sz="1250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الاختبار والتوثيق جزء أصيل من التطوير لا خاتمة له.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65760" y="3977640"/>
            <a:ext cx="2697480" cy="1965960"/>
          </a:xfrm>
          <a:prstGeom prst="roundRect">
            <a:avLst>
              <a:gd name="adj" fmla="val 4651"/>
            </a:avLst>
          </a:prstGeom>
          <a:solidFill>
            <a:srgbClr val="C9A227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679192" y="4178808"/>
            <a:ext cx="219456" cy="219456"/>
          </a:xfrm>
          <a:prstGeom prst="diamond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621792" y="443484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شعار الدورة: حكمةٌ في القرار، ودقةٌ في التنفيذ.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23015" y="731520"/>
            <a:ext cx="310896" cy="31089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4543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استفاد المتدرب؟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كتابة الكود إلى بناء منظومة وكيل كاملة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152790" y="178308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005718" y="2057400"/>
            <a:ext cx="475488" cy="475488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05718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53958" y="2468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فهم معماري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27110" y="3063240"/>
            <a:ext cx="303580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تنتهي صلاحية العميل وأين تبدأ الأداة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 البوابة في حماية سلاسل القرار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حدود الذاكرة ونطاق السياق بين الجلسات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2310" y="178308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65238" y="2057400"/>
            <a:ext cx="475488" cy="475488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65238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13478" y="2468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مهارات تقنية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86630" y="3063240"/>
            <a:ext cx="303580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وكلاء بواجهات أدوات MCP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بوابات قرار وشرط فشل دقيقة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استرجاع سياسات باستعلامات منضبطة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1830" y="178308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5FA"/>
          </a:solidFill>
          <a:ln/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24758" y="2057400"/>
            <a:ext cx="475488" cy="475488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4758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998" y="24688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23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ممارسات مهنية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46150" y="3063240"/>
            <a:ext cx="303580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مستمر واختبار عند كل محطة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تخطيط عند الانحراف بموافقة بشرية</a:t>
            </a:r>
            <a:endParaRPr lang="en-US" sz="1250" dirty="0"/>
          </a:p>
          <a:p>
            <a:pPr marL="342900" indent="-342900" algn="r" rtl="1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تسليم بضوابط جودة وفحص آلي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رفيق ميني • الملخص الشامل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645920"/>
            <a:ext cx="4023360" cy="4023360"/>
          </a:xfrm>
          <a:prstGeom prst="ellipse">
            <a:avLst/>
          </a:prstGeom>
          <a:solidFill>
            <a:srgbClr val="C9A22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5760720"/>
            <a:ext cx="411480" cy="4114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" name="Shape 2"/>
          <p:cNvSpPr/>
          <p:nvPr/>
        </p:nvSpPr>
        <p:spPr>
          <a:xfrm>
            <a:off x="1600200" y="5349240"/>
            <a:ext cx="256032" cy="256032"/>
          </a:xfrm>
          <a:prstGeom prst="diamond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64008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640080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يومين، انتقل المتدرب من بناء عميل بسيط إلى منظومة وكلاء تملك ذاكرةً، وبوابات، وسياسات، وموافقات بشرية — والأهم أنه تعلّم أين تنتهي صلاحيته.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0" y="42519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E2B52"/>
          </a:solidFill>
          <a:ln w="12700">
            <a:solidFill>
              <a:srgbClr val="C9A227"/>
            </a:solidFill>
            <a:prstDash val="solid"/>
          </a:ln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اليوم الأول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0" y="48646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اجتازت كل الفحوص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42519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E2B52"/>
          </a:solidFill>
          <a:ln w="12700">
            <a:solidFill>
              <a:srgbClr val="C9A227"/>
            </a:solidFill>
            <a:prstDash val="solid"/>
          </a:ln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بوابة اليوم الثاني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48646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اجتازت كل الفحوص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280160" y="42519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E2B52"/>
          </a:solidFill>
          <a:ln w="12700">
            <a:solidFill>
              <a:srgbClr val="C9A227"/>
            </a:solidFill>
            <a:prstDash val="solid"/>
          </a:ln>
          <a:effectLst>
            <a:outerShdw blurRad="88900" dist="50800" dir="5400000" algn="bl" rotWithShape="0">
              <a:srgbClr val="B9C3D6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46304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الأدلة موثّقة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48646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نقاط تحقق وكشوف محفوظة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5989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تقدّمٌ مبنيٌّ على التكرار الصادق: فشلٌ مبكّر واضح أفضل من نجاحٍ وهمي.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C9A22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109960" y="731520"/>
            <a:ext cx="457200" cy="45720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شكرًا لمرافقة «رفيق» في هذه الجولة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التالية: الأقسام C21 → C29 نحو بوابة التخرج الكبرى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8404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المشروع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63240" y="38404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8404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الأمني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03520" y="38404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0" y="38404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التنفيذ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43800" y="38404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43800" y="38404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حزمة التسليم 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784080" y="3840480"/>
            <a:ext cx="2057400" cy="502920"/>
          </a:xfrm>
          <a:prstGeom prst="roundRect">
            <a:avLst>
              <a:gd name="adj" fmla="val 50000"/>
            </a:avLst>
          </a:prstGeom>
          <a:solidFill>
            <a:srgbClr val="1E2B52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0" y="38404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الأدلة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يُستكمل التوثيق مع كل قسم، وتُجمَع الحزمة النهائية بضوابط الجودة ذاتها.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941</Words>
  <Application>Microsoft Office PowerPoint</Application>
  <PresentationFormat>Widescreen</PresentationFormat>
  <Paragraphs>157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Rafeeq Mini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الملخص الشامل لدورة رفيق ميني</dc:title>
  <dc:subject>PptxGenJS Presentation</dc:subject>
  <dc:creator>Saud Alghamdi</dc:creator>
  <cp:lastModifiedBy>SoOs Hack</cp:lastModifiedBy>
  <cp:revision>2</cp:revision>
  <dcterms:created xsi:type="dcterms:W3CDTF">2026-09-21T07:43:29Z</dcterms:created>
  <dcterms:modified xsi:type="dcterms:W3CDTF">2026-09-21T07:50:09Z</dcterms:modified>
</cp:coreProperties>
</file>